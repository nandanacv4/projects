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2" r:id="rId5"/>
    <p:sldId id="261" r:id="rId6"/>
    <p:sldId id="264" r:id="rId7"/>
    <p:sldId id="265" r:id="rId8"/>
    <p:sldId id="266" r:id="rId9"/>
    <p:sldId id="267" r:id="rId10"/>
    <p:sldId id="268" r:id="rId11"/>
    <p:sldId id="269" r:id="rId12"/>
    <p:sldId id="263" r:id="rId13"/>
    <p:sldId id="259" r:id="rId14"/>
    <p:sldId id="260"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1651" autoAdjust="0"/>
    <p:restoredTop sz="95033" autoAdjust="0"/>
  </p:normalViewPr>
  <p:slideViewPr>
    <p:cSldViewPr snapToGrid="0">
      <p:cViewPr varScale="1">
        <p:scale>
          <a:sx n="78" d="100"/>
          <a:sy n="78" d="100"/>
        </p:scale>
        <p:origin x="1032" y="43"/>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3DA6EB6-9077-4248-AC6F-DBF66ECB1B79}" type="datetimeFigureOut">
              <a:rPr lang="en-IN" smtClean="0"/>
              <a:t>21-02-2026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873AD7-2328-4763-9BD5-715444A8503B}" type="slidenum">
              <a:rPr lang="en-IN" smtClean="0"/>
              <a:t>‹#›</a:t>
            </a:fld>
            <a:endParaRPr lang="en-IN"/>
          </a:p>
        </p:txBody>
      </p:sp>
    </p:spTree>
    <p:extLst>
      <p:ext uri="{BB962C8B-B14F-4D97-AF65-F5344CB8AC3E}">
        <p14:creationId xmlns:p14="http://schemas.microsoft.com/office/powerpoint/2010/main" val="4148274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873AD7-2328-4763-9BD5-715444A8503B}" type="slidenum">
              <a:rPr lang="en-IN" smtClean="0"/>
              <a:t>1</a:t>
            </a:fld>
            <a:endParaRPr lang="en-IN"/>
          </a:p>
        </p:txBody>
      </p:sp>
    </p:spTree>
    <p:extLst>
      <p:ext uri="{BB962C8B-B14F-4D97-AF65-F5344CB8AC3E}">
        <p14:creationId xmlns:p14="http://schemas.microsoft.com/office/powerpoint/2010/main" val="217983272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873AD7-2328-4763-9BD5-715444A8503B}" type="slidenum">
              <a:rPr lang="en-IN" smtClean="0"/>
              <a:t>5</a:t>
            </a:fld>
            <a:endParaRPr lang="en-IN"/>
          </a:p>
        </p:txBody>
      </p:sp>
    </p:spTree>
    <p:extLst>
      <p:ext uri="{BB962C8B-B14F-4D97-AF65-F5344CB8AC3E}">
        <p14:creationId xmlns:p14="http://schemas.microsoft.com/office/powerpoint/2010/main" val="3449106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873AD7-2328-4763-9BD5-715444A8503B}" type="slidenum">
              <a:rPr lang="en-IN" smtClean="0"/>
              <a:t>9</a:t>
            </a:fld>
            <a:endParaRPr lang="en-IN"/>
          </a:p>
        </p:txBody>
      </p:sp>
    </p:spTree>
    <p:extLst>
      <p:ext uri="{BB962C8B-B14F-4D97-AF65-F5344CB8AC3E}">
        <p14:creationId xmlns:p14="http://schemas.microsoft.com/office/powerpoint/2010/main" val="2878633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1C824-7F6D-1D5B-1C86-DAC29544DE3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043690C-8C9F-3F86-CC68-36D5AB3DCA3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DFEA22A-7F02-1BCF-E62E-9D4EC543C7E6}"/>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5" name="Footer Placeholder 4">
            <a:extLst>
              <a:ext uri="{FF2B5EF4-FFF2-40B4-BE49-F238E27FC236}">
                <a16:creationId xmlns:a16="http://schemas.microsoft.com/office/drawing/2014/main" id="{C80CF6F4-DE3C-25F2-3B67-80A3DA35DB7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0EE1709-EAAC-A3E3-3B31-DF16F7F93ABE}"/>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3029087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928C90-1A7F-8785-86A6-3F1FB69D0E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70827CE-67D3-3D07-F5CD-5CE32396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A45EFB8-3B7B-5FE1-F413-8C6F350DD9C2}"/>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5" name="Footer Placeholder 4">
            <a:extLst>
              <a:ext uri="{FF2B5EF4-FFF2-40B4-BE49-F238E27FC236}">
                <a16:creationId xmlns:a16="http://schemas.microsoft.com/office/drawing/2014/main" id="{1512093B-4606-B312-814E-82A58F7C20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EE97C6-B3F2-EBC1-5301-1A60ACB83619}"/>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33280521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887901-B557-E0E4-9540-7C45D11E4BC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1311B28-6EB6-5C5B-0839-01678EAE898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CBF77C-60F4-44DE-A420-05386F1D73DE}"/>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5" name="Footer Placeholder 4">
            <a:extLst>
              <a:ext uri="{FF2B5EF4-FFF2-40B4-BE49-F238E27FC236}">
                <a16:creationId xmlns:a16="http://schemas.microsoft.com/office/drawing/2014/main" id="{9BCBDFC8-3F1B-D350-439A-A58E203A49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3A117-EB34-B795-DC1C-3543FC296F95}"/>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5869907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ACC038-F941-8F2B-7E78-6F47B21496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051931D-68CB-A772-62F5-BD41FB6C820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701E309-A24B-5149-469F-5A010C2469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B77F43C-926B-5AD3-D0F8-61E66301C6F9}"/>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6" name="Footer Placeholder 5">
            <a:extLst>
              <a:ext uri="{FF2B5EF4-FFF2-40B4-BE49-F238E27FC236}">
                <a16:creationId xmlns:a16="http://schemas.microsoft.com/office/drawing/2014/main" id="{6E313458-9D28-B00F-52A3-6E55754B596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B341C71-32DF-C619-E6F7-04ED9DD4CFF8}"/>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2629057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B17A56-E756-45F8-4C33-AFD0E706F42A}"/>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AE11578-7D7F-9FE1-5538-34F04F1F01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9C89F04-0827-FF15-A7E3-949086BB773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19BE32B6-1D18-CF59-BD33-F33D647CCE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94D82D-F390-CA0B-2B0B-84B05B989ED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270CE2E-3762-4938-4D70-2FAADF4918F8}"/>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8" name="Footer Placeholder 7">
            <a:extLst>
              <a:ext uri="{FF2B5EF4-FFF2-40B4-BE49-F238E27FC236}">
                <a16:creationId xmlns:a16="http://schemas.microsoft.com/office/drawing/2014/main" id="{A82F4F34-8C62-C450-6EFE-188427ED79F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2033E4E-D0D0-A7E0-B376-242221F051E8}"/>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35415136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8E74F-7EDF-4096-0038-BD8510A6A5A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45D3643-9992-1660-16B4-5149E2B99CCC}"/>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4" name="Footer Placeholder 3">
            <a:extLst>
              <a:ext uri="{FF2B5EF4-FFF2-40B4-BE49-F238E27FC236}">
                <a16:creationId xmlns:a16="http://schemas.microsoft.com/office/drawing/2014/main" id="{6F11DBA5-3736-FF86-C48F-8E94F84AF8B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5C3F793-6DB9-3A34-22E4-74370D387ACC}"/>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1295372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24D9DB-0A67-F224-29E4-58F6FC5A6CD0}"/>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3" name="Footer Placeholder 2">
            <a:extLst>
              <a:ext uri="{FF2B5EF4-FFF2-40B4-BE49-F238E27FC236}">
                <a16:creationId xmlns:a16="http://schemas.microsoft.com/office/drawing/2014/main" id="{F10464AF-42D0-64A6-A1D7-858DD5AF7A4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D79BA5A-82D2-E03B-EDA1-514042786264}"/>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21875204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56510-6F62-6425-AE6C-6908E921BEC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8EDE8DE-C00C-04B1-A186-6F06DBC7E6E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D39BCFF-EE80-4689-F84A-3CBFC9189A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B1028B-A276-EE22-C495-843A3B986C4B}"/>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6" name="Footer Placeholder 5">
            <a:extLst>
              <a:ext uri="{FF2B5EF4-FFF2-40B4-BE49-F238E27FC236}">
                <a16:creationId xmlns:a16="http://schemas.microsoft.com/office/drawing/2014/main" id="{58EE9DFB-FFDD-9741-AE6E-9065F14AA3E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B44426-A7AC-90F3-ED99-E574D6082203}"/>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28453918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F7A62-FB51-B226-041A-DF62F253FB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B32D191-9960-BA12-D6E5-EAC787D7828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DDD3C8E-433D-A7DC-F735-9A48B3550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1BE6D6D-595E-F9C3-6199-7FCE4BF9D950}"/>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6" name="Footer Placeholder 5">
            <a:extLst>
              <a:ext uri="{FF2B5EF4-FFF2-40B4-BE49-F238E27FC236}">
                <a16:creationId xmlns:a16="http://schemas.microsoft.com/office/drawing/2014/main" id="{CEED3C13-840E-AB26-2754-08367518E2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C7BDA8-755C-9ABD-F063-5FD6AE8344E0}"/>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13337266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531500-69F6-EBAF-394A-9DD3E4F45EA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9CBE9FB-DE1D-9558-A486-72C37F19057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7CDA4B7-3738-71C6-9BCF-623C47F01F72}"/>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5" name="Footer Placeholder 4">
            <a:extLst>
              <a:ext uri="{FF2B5EF4-FFF2-40B4-BE49-F238E27FC236}">
                <a16:creationId xmlns:a16="http://schemas.microsoft.com/office/drawing/2014/main" id="{2356B7BF-D7DE-C425-2059-B53558054DA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91AB59-FDA3-7F82-2E62-16D8E3072D2F}"/>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4600518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A67234-4E58-6843-315A-B45C232EAD8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C6E1F2-A98D-FC71-EA80-0715A6B7E68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4A670E0-C6A6-1349-1C01-44A76F6EFC93}"/>
              </a:ext>
            </a:extLst>
          </p:cNvPr>
          <p:cNvSpPr>
            <a:spLocks noGrp="1"/>
          </p:cNvSpPr>
          <p:nvPr>
            <p:ph type="dt" sz="half" idx="10"/>
          </p:nvPr>
        </p:nvSpPr>
        <p:spPr/>
        <p:txBody>
          <a:bodyPr/>
          <a:lstStyle/>
          <a:p>
            <a:fld id="{EA00DECF-67DB-47A9-9380-81FEB68F0E69}" type="datetimeFigureOut">
              <a:rPr lang="en-IN" smtClean="0"/>
              <a:t>21-02-2026</a:t>
            </a:fld>
            <a:endParaRPr lang="en-IN"/>
          </a:p>
        </p:txBody>
      </p:sp>
      <p:sp>
        <p:nvSpPr>
          <p:cNvPr id="5" name="Footer Placeholder 4">
            <a:extLst>
              <a:ext uri="{FF2B5EF4-FFF2-40B4-BE49-F238E27FC236}">
                <a16:creationId xmlns:a16="http://schemas.microsoft.com/office/drawing/2014/main" id="{6252525E-3AE5-8040-8B57-1B3E1AF1AAC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360DCE4-DB3A-6C34-5614-5F4C443B3026}"/>
              </a:ext>
            </a:extLst>
          </p:cNvPr>
          <p:cNvSpPr>
            <a:spLocks noGrp="1"/>
          </p:cNvSpPr>
          <p:nvPr>
            <p:ph type="sldNum" sz="quarter" idx="12"/>
          </p:nvPr>
        </p:nvSpPr>
        <p:spPr/>
        <p:txBody>
          <a:bodyPr/>
          <a:lstStyle/>
          <a:p>
            <a:fld id="{9E037F08-3C58-408B-9E1C-FE7B10FDBB6A}" type="slidenum">
              <a:rPr lang="en-IN" smtClean="0"/>
              <a:t>‹#›</a:t>
            </a:fld>
            <a:endParaRPr lang="en-IN"/>
          </a:p>
        </p:txBody>
      </p:sp>
    </p:spTree>
    <p:extLst>
      <p:ext uri="{BB962C8B-B14F-4D97-AF65-F5344CB8AC3E}">
        <p14:creationId xmlns:p14="http://schemas.microsoft.com/office/powerpoint/2010/main" val="20662500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4B84D0D-736D-F6B7-E605-23FF284026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0A9578-34C4-D151-2A33-3981EB3826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835079-3FC6-4964-4456-6BAE745CE4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A00DECF-67DB-47A9-9380-81FEB68F0E69}" type="datetimeFigureOut">
              <a:rPr lang="en-IN" smtClean="0"/>
              <a:t>21-02-2026</a:t>
            </a:fld>
            <a:endParaRPr lang="en-IN"/>
          </a:p>
        </p:txBody>
      </p:sp>
      <p:sp>
        <p:nvSpPr>
          <p:cNvPr id="5" name="Footer Placeholder 4">
            <a:extLst>
              <a:ext uri="{FF2B5EF4-FFF2-40B4-BE49-F238E27FC236}">
                <a16:creationId xmlns:a16="http://schemas.microsoft.com/office/drawing/2014/main" id="{1D331C12-A959-BC1D-90CC-AA31438998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71E54B3E-E048-E145-7B16-70A0AA86D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E037F08-3C58-408B-9E1C-FE7B10FDBB6A}" type="slidenum">
              <a:rPr lang="en-IN" smtClean="0"/>
              <a:t>‹#›</a:t>
            </a:fld>
            <a:endParaRPr lang="en-IN"/>
          </a:p>
        </p:txBody>
      </p:sp>
    </p:spTree>
    <p:extLst>
      <p:ext uri="{BB962C8B-B14F-4D97-AF65-F5344CB8AC3E}">
        <p14:creationId xmlns:p14="http://schemas.microsoft.com/office/powerpoint/2010/main" val="36577684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DCA25-4C6B-3D91-1AC5-9FA26ECBEF8E}"/>
              </a:ext>
            </a:extLst>
          </p:cNvPr>
          <p:cNvSpPr>
            <a:spLocks noGrp="1"/>
          </p:cNvSpPr>
          <p:nvPr>
            <p:ph type="ctrTitle"/>
          </p:nvPr>
        </p:nvSpPr>
        <p:spPr/>
        <p:txBody>
          <a:bodyPr>
            <a:normAutofit/>
          </a:bodyPr>
          <a:lstStyle/>
          <a:p>
            <a:r>
              <a:rPr lang="en-US" sz="6600" b="1" dirty="0">
                <a:latin typeface="+mn-lt"/>
              </a:rPr>
              <a:t>AI IMPACT ON JOBS -2030</a:t>
            </a:r>
            <a:endParaRPr lang="en-IN" sz="6600" b="1" dirty="0">
              <a:latin typeface="+mn-lt"/>
            </a:endParaRPr>
          </a:p>
        </p:txBody>
      </p:sp>
      <p:sp>
        <p:nvSpPr>
          <p:cNvPr id="3" name="Subtitle 2">
            <a:extLst>
              <a:ext uri="{FF2B5EF4-FFF2-40B4-BE49-F238E27FC236}">
                <a16:creationId xmlns:a16="http://schemas.microsoft.com/office/drawing/2014/main" id="{8D56FA0D-FB67-42B8-5AEC-11C481557907}"/>
              </a:ext>
            </a:extLst>
          </p:cNvPr>
          <p:cNvSpPr>
            <a:spLocks noGrp="1"/>
          </p:cNvSpPr>
          <p:nvPr>
            <p:ph type="subTitle" idx="1"/>
          </p:nvPr>
        </p:nvSpPr>
        <p:spPr>
          <a:xfrm>
            <a:off x="6774426" y="4591664"/>
            <a:ext cx="4611329" cy="1397971"/>
          </a:xfrm>
        </p:spPr>
        <p:txBody>
          <a:bodyPr/>
          <a:lstStyle/>
          <a:p>
            <a:r>
              <a:rPr lang="en-US" sz="3200" dirty="0"/>
              <a:t>Submitted By</a:t>
            </a:r>
          </a:p>
          <a:p>
            <a:r>
              <a:rPr lang="en-US" sz="4400" b="1" dirty="0"/>
              <a:t>NANDANA C V</a:t>
            </a:r>
            <a:endParaRPr lang="en-IN" sz="4400" b="1" dirty="0"/>
          </a:p>
        </p:txBody>
      </p:sp>
    </p:spTree>
    <p:extLst>
      <p:ext uri="{BB962C8B-B14F-4D97-AF65-F5344CB8AC3E}">
        <p14:creationId xmlns:p14="http://schemas.microsoft.com/office/powerpoint/2010/main" val="3938386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9A70AE2D-A935-5871-8F03-6CE976FB65C4}"/>
              </a:ext>
            </a:extLst>
          </p:cNvPr>
          <p:cNvSpPr>
            <a:spLocks noGrp="1"/>
          </p:cNvSpPr>
          <p:nvPr>
            <p:ph type="title"/>
          </p:nvPr>
        </p:nvSpPr>
        <p:spPr/>
        <p:txBody>
          <a:bodyPr>
            <a:normAutofit/>
          </a:bodyPr>
          <a:lstStyle/>
          <a:p>
            <a:pPr algn="ctr"/>
            <a:r>
              <a:rPr lang="en-US" sz="4800" b="1" dirty="0">
                <a:latin typeface="+mn-lt"/>
              </a:rPr>
              <a:t>INTRODUCTION</a:t>
            </a:r>
            <a:endParaRPr lang="en-IN" sz="4800" b="1" dirty="0">
              <a:latin typeface="+mn-lt"/>
            </a:endParaRPr>
          </a:p>
        </p:txBody>
      </p:sp>
      <p:sp>
        <p:nvSpPr>
          <p:cNvPr id="8" name="Content Placeholder 7">
            <a:extLst>
              <a:ext uri="{FF2B5EF4-FFF2-40B4-BE49-F238E27FC236}">
                <a16:creationId xmlns:a16="http://schemas.microsoft.com/office/drawing/2014/main" id="{0E4BE272-A9C1-2043-376B-0E70BB4D488E}"/>
              </a:ext>
            </a:extLst>
          </p:cNvPr>
          <p:cNvSpPr>
            <a:spLocks noGrp="1"/>
          </p:cNvSpPr>
          <p:nvPr>
            <p:ph idx="1"/>
          </p:nvPr>
        </p:nvSpPr>
        <p:spPr>
          <a:xfrm>
            <a:off x="791497" y="1533833"/>
            <a:ext cx="10515600" cy="4702124"/>
          </a:xfrm>
        </p:spPr>
        <p:txBody>
          <a:bodyPr/>
          <a:lstStyle/>
          <a:p>
            <a:pPr marL="0" indent="0">
              <a:buNone/>
            </a:pPr>
            <a:r>
              <a:rPr lang="en-US" sz="3600" dirty="0">
                <a:ea typeface="Calibri" panose="020F0502020204030204" pitchFamily="34" charset="0"/>
                <a:cs typeface="Calibri" panose="020F0502020204030204" pitchFamily="34" charset="0"/>
              </a:rPr>
              <a:t>Artificial Intelligence is transforming the job market by automating routine tasks and increasing productivity across industries. While some jobs may be replaced by AI by 2030, many new roles will emerge that require digital, analytical, and creative skills. Understanding AI’s impact on jobs is essential to prepare the workforce for future opportunities and challenges.</a:t>
            </a:r>
          </a:p>
          <a:p>
            <a:pPr marL="0" indent="0">
              <a:buNone/>
            </a:pPr>
            <a:endParaRPr lang="en-US" sz="3600" dirty="0">
              <a:ea typeface="Calibri" panose="020F0502020204030204" pitchFamily="34" charset="0"/>
              <a:cs typeface="Calibri" panose="020F0502020204030204" pitchFamily="34" charset="0"/>
            </a:endParaRPr>
          </a:p>
          <a:p>
            <a:pPr marL="0" indent="0">
              <a:buNone/>
            </a:pPr>
            <a:endParaRPr lang="en-IN" dirty="0"/>
          </a:p>
        </p:txBody>
      </p:sp>
    </p:spTree>
    <p:extLst>
      <p:ext uri="{BB962C8B-B14F-4D97-AF65-F5344CB8AC3E}">
        <p14:creationId xmlns:p14="http://schemas.microsoft.com/office/powerpoint/2010/main" val="138277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9F188E6B-E6B6-458B-68AC-0F9960BC63D8}"/>
              </a:ext>
            </a:extLst>
          </p:cNvPr>
          <p:cNvSpPr>
            <a:spLocks noGrp="1"/>
          </p:cNvSpPr>
          <p:nvPr>
            <p:ph type="title"/>
          </p:nvPr>
        </p:nvSpPr>
        <p:spPr>
          <a:xfrm>
            <a:off x="730045" y="551938"/>
            <a:ext cx="10515600" cy="1325563"/>
          </a:xfrm>
        </p:spPr>
        <p:txBody>
          <a:bodyPr>
            <a:normAutofit/>
          </a:bodyPr>
          <a:lstStyle/>
          <a:p>
            <a:pPr algn="ctr"/>
            <a:r>
              <a:rPr lang="en-US" sz="4800" b="1" dirty="0">
                <a:latin typeface="+mn-lt"/>
              </a:rPr>
              <a:t>OBJECTIVES OF THE STUDY</a:t>
            </a:r>
            <a:endParaRPr lang="en-IN" sz="4800" b="1" dirty="0">
              <a:latin typeface="+mn-lt"/>
            </a:endParaRPr>
          </a:p>
        </p:txBody>
      </p:sp>
      <p:sp>
        <p:nvSpPr>
          <p:cNvPr id="7" name="Rectangle 1">
            <a:extLst>
              <a:ext uri="{FF2B5EF4-FFF2-40B4-BE49-F238E27FC236}">
                <a16:creationId xmlns:a16="http://schemas.microsoft.com/office/drawing/2014/main" id="{77517404-6D15-3277-50D8-6096C1C97DAC}"/>
              </a:ext>
            </a:extLst>
          </p:cNvPr>
          <p:cNvSpPr>
            <a:spLocks noGrp="1" noChangeArrowheads="1"/>
          </p:cNvSpPr>
          <p:nvPr>
            <p:ph idx="1"/>
          </p:nvPr>
        </p:nvSpPr>
        <p:spPr bwMode="auto">
          <a:xfrm>
            <a:off x="651389" y="1877501"/>
            <a:ext cx="10441992" cy="3766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normAutofit fontScale="92500" lnSpcReduction="20000"/>
          </a:bodyPr>
          <a:lstStyle/>
          <a:p>
            <a:pPr eaLnBrk="0" fontAlgn="base" hangingPunct="0">
              <a:lnSpc>
                <a:spcPct val="100000"/>
              </a:lnSpc>
              <a:spcBef>
                <a:spcPct val="0"/>
              </a:spcBef>
              <a:spcAft>
                <a:spcPct val="0"/>
              </a:spcAft>
              <a:buFont typeface="Wingdings" panose="05000000000000000000" pitchFamily="2" charset="2"/>
              <a:buChar char="q"/>
            </a:pPr>
            <a:r>
              <a:rPr kumimoji="0" lang="en-US" altLang="en-US" sz="4300" b="0" i="0" u="none" strike="noStrike" cap="none" normalizeH="0" baseline="0" dirty="0">
                <a:ln>
                  <a:noFill/>
                </a:ln>
                <a:solidFill>
                  <a:schemeClr val="tx1"/>
                </a:solidFill>
                <a:effectLst/>
              </a:rPr>
              <a:t> To analyze the impact of AI on employment</a:t>
            </a:r>
          </a:p>
          <a:p>
            <a:pPr marL="0" indent="0" eaLnBrk="0" fontAlgn="base" hangingPunct="0">
              <a:lnSpc>
                <a:spcPct val="100000"/>
              </a:lnSpc>
              <a:spcBef>
                <a:spcPct val="0"/>
              </a:spcBef>
              <a:spcAft>
                <a:spcPct val="0"/>
              </a:spcAft>
              <a:buNone/>
            </a:pPr>
            <a:r>
              <a:rPr kumimoji="0" lang="en-US" altLang="en-US" sz="4300" b="0" i="0" u="none" strike="noStrike" cap="none" normalizeH="0" baseline="0" dirty="0">
                <a:ln>
                  <a:noFill/>
                </a:ln>
                <a:solidFill>
                  <a:schemeClr val="tx1"/>
                </a:solidFill>
                <a:effectLst/>
              </a:rPr>
              <a:t>      by 2030</a:t>
            </a:r>
          </a:p>
          <a:p>
            <a:pPr eaLnBrk="0" fontAlgn="base" hangingPunct="0">
              <a:lnSpc>
                <a:spcPct val="100000"/>
              </a:lnSpc>
              <a:spcBef>
                <a:spcPct val="0"/>
              </a:spcBef>
              <a:spcAft>
                <a:spcPct val="0"/>
              </a:spcAft>
              <a:buFont typeface="Wingdings" panose="05000000000000000000" pitchFamily="2" charset="2"/>
              <a:buChar char="q"/>
            </a:pPr>
            <a:r>
              <a:rPr kumimoji="0" lang="en-US" altLang="en-US" sz="4300" b="0" i="0" u="none" strike="noStrike" cap="none" normalizeH="0" baseline="0" dirty="0">
                <a:ln>
                  <a:noFill/>
                </a:ln>
                <a:solidFill>
                  <a:schemeClr val="tx1"/>
                </a:solidFill>
                <a:effectLst/>
              </a:rPr>
              <a:t>  To identify jobs at risk due to automation</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300" b="0" i="0" u="none" strike="noStrike" cap="none" normalizeH="0" baseline="0" dirty="0">
                <a:ln>
                  <a:noFill/>
                </a:ln>
                <a:solidFill>
                  <a:schemeClr val="tx1"/>
                </a:solidFill>
                <a:effectLst/>
              </a:rPr>
              <a:t>  To study new job opportunities created by AI</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300" b="0" i="0" u="none" strike="noStrike" cap="none" normalizeH="0" baseline="0" dirty="0">
                <a:ln>
                  <a:noFill/>
                </a:ln>
                <a:solidFill>
                  <a:schemeClr val="tx1"/>
                </a:solidFill>
                <a:effectLst/>
              </a:rPr>
              <a:t>  To understand skill changes required for the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4300" b="0" i="0" u="none" strike="noStrike" cap="none" normalizeH="0" baseline="0" dirty="0">
                <a:ln>
                  <a:noFill/>
                </a:ln>
                <a:solidFill>
                  <a:schemeClr val="tx1"/>
                </a:solidFill>
                <a:effectLst/>
              </a:rPr>
              <a:t>       future workforce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300" b="0" i="0" u="none" strike="noStrike" cap="none" normalizeH="0" baseline="0" dirty="0">
                <a:ln>
                  <a:noFill/>
                </a:ln>
                <a:solidFill>
                  <a:schemeClr val="tx1"/>
                </a:solidFill>
                <a:effectLst/>
              </a:rPr>
              <a:t>  To evaluate sector-wise impact of AI on jobs</a:t>
            </a:r>
          </a:p>
        </p:txBody>
      </p:sp>
    </p:spTree>
    <p:extLst>
      <p:ext uri="{BB962C8B-B14F-4D97-AF65-F5344CB8AC3E}">
        <p14:creationId xmlns:p14="http://schemas.microsoft.com/office/powerpoint/2010/main" val="13793023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27CD4-BC99-2899-7ABC-D0F011A5808A}"/>
              </a:ext>
            </a:extLst>
          </p:cNvPr>
          <p:cNvSpPr>
            <a:spLocks noGrp="1"/>
          </p:cNvSpPr>
          <p:nvPr>
            <p:ph type="title"/>
          </p:nvPr>
        </p:nvSpPr>
        <p:spPr>
          <a:xfrm>
            <a:off x="0" y="0"/>
            <a:ext cx="11353800" cy="757084"/>
          </a:xfrm>
        </p:spPr>
        <p:txBody>
          <a:bodyPr>
            <a:normAutofit/>
          </a:bodyPr>
          <a:lstStyle/>
          <a:p>
            <a:r>
              <a:rPr lang="en-US" sz="4800" b="1" dirty="0">
                <a:latin typeface="+mn-lt"/>
              </a:rPr>
              <a:t>DATASET</a:t>
            </a:r>
            <a:endParaRPr lang="en-IN" sz="4800" b="1" dirty="0">
              <a:latin typeface="+mn-lt"/>
            </a:endParaRPr>
          </a:p>
        </p:txBody>
      </p:sp>
      <p:pic>
        <p:nvPicPr>
          <p:cNvPr id="6" name="Picture 5">
            <a:extLst>
              <a:ext uri="{FF2B5EF4-FFF2-40B4-BE49-F238E27FC236}">
                <a16:creationId xmlns:a16="http://schemas.microsoft.com/office/drawing/2014/main" id="{1156F244-9A2D-EF22-9464-C7984DF2EC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818" y="757084"/>
            <a:ext cx="11926529" cy="5938683"/>
          </a:xfrm>
          <a:prstGeom prst="rect">
            <a:avLst/>
          </a:prstGeom>
        </p:spPr>
      </p:pic>
    </p:spTree>
    <p:extLst>
      <p:ext uri="{BB962C8B-B14F-4D97-AF65-F5344CB8AC3E}">
        <p14:creationId xmlns:p14="http://schemas.microsoft.com/office/powerpoint/2010/main" val="5019737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4AAEB8B-8097-4F4C-ECD0-26DB827AE139}"/>
              </a:ext>
            </a:extLst>
          </p:cNvPr>
          <p:cNvSpPr>
            <a:spLocks noGrp="1"/>
          </p:cNvSpPr>
          <p:nvPr>
            <p:ph type="title"/>
          </p:nvPr>
        </p:nvSpPr>
        <p:spPr>
          <a:xfrm>
            <a:off x="0" y="1"/>
            <a:ext cx="12192000" cy="688257"/>
          </a:xfrm>
        </p:spPr>
        <p:txBody>
          <a:bodyPr>
            <a:noAutofit/>
          </a:bodyPr>
          <a:lstStyle/>
          <a:p>
            <a:r>
              <a:rPr lang="en-US" sz="4800" b="1" dirty="0">
                <a:latin typeface="+mn-lt"/>
              </a:rPr>
              <a:t>DASHBOARD</a:t>
            </a:r>
            <a:endParaRPr lang="en-IN" sz="4800" b="1" dirty="0">
              <a:latin typeface="+mn-lt"/>
            </a:endParaRPr>
          </a:p>
        </p:txBody>
      </p:sp>
      <p:pic>
        <p:nvPicPr>
          <p:cNvPr id="3" name="Picture 2">
            <a:extLst>
              <a:ext uri="{FF2B5EF4-FFF2-40B4-BE49-F238E27FC236}">
                <a16:creationId xmlns:a16="http://schemas.microsoft.com/office/drawing/2014/main" id="{26F3D2F7-967D-17A2-84A8-C925C81BA1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559837"/>
            <a:ext cx="12192000" cy="6298162"/>
          </a:xfrm>
          <a:prstGeom prst="rect">
            <a:avLst/>
          </a:prstGeom>
        </p:spPr>
      </p:pic>
    </p:spTree>
    <p:extLst>
      <p:ext uri="{BB962C8B-B14F-4D97-AF65-F5344CB8AC3E}">
        <p14:creationId xmlns:p14="http://schemas.microsoft.com/office/powerpoint/2010/main" val="19152015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91679A9-EC39-C637-77C2-B3F29C733A8B}"/>
              </a:ext>
            </a:extLst>
          </p:cNvPr>
          <p:cNvSpPr>
            <a:spLocks noGrp="1"/>
          </p:cNvSpPr>
          <p:nvPr>
            <p:ph type="title"/>
          </p:nvPr>
        </p:nvSpPr>
        <p:spPr>
          <a:xfrm>
            <a:off x="838200" y="365125"/>
            <a:ext cx="10515600" cy="785249"/>
          </a:xfrm>
        </p:spPr>
        <p:txBody>
          <a:bodyPr>
            <a:normAutofit/>
          </a:bodyPr>
          <a:lstStyle/>
          <a:p>
            <a:pPr algn="ctr"/>
            <a:r>
              <a:rPr lang="en-US" sz="4800" b="1" dirty="0">
                <a:latin typeface="+mn-lt"/>
              </a:rPr>
              <a:t>BAR CHART</a:t>
            </a:r>
            <a:endParaRPr lang="en-IN" sz="4800" b="1" dirty="0">
              <a:latin typeface="+mn-lt"/>
            </a:endParaRPr>
          </a:p>
        </p:txBody>
      </p:sp>
      <p:pic>
        <p:nvPicPr>
          <p:cNvPr id="6" name="Content Placeholder 5">
            <a:extLst>
              <a:ext uri="{FF2B5EF4-FFF2-40B4-BE49-F238E27FC236}">
                <a16:creationId xmlns:a16="http://schemas.microsoft.com/office/drawing/2014/main" id="{94DD700A-1DCF-56B7-7E0F-BCB9A93067F0}"/>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385916" y="1477010"/>
            <a:ext cx="4667865" cy="5026025"/>
          </a:xfrm>
        </p:spPr>
      </p:pic>
      <p:sp>
        <p:nvSpPr>
          <p:cNvPr id="8" name="TextBox 7">
            <a:extLst>
              <a:ext uri="{FF2B5EF4-FFF2-40B4-BE49-F238E27FC236}">
                <a16:creationId xmlns:a16="http://schemas.microsoft.com/office/drawing/2014/main" id="{34263E34-88AB-6F34-09D4-B2729CA33D16}"/>
              </a:ext>
            </a:extLst>
          </p:cNvPr>
          <p:cNvSpPr txBox="1"/>
          <p:nvPr/>
        </p:nvSpPr>
        <p:spPr>
          <a:xfrm>
            <a:off x="5186617" y="1486277"/>
            <a:ext cx="6715431" cy="5016758"/>
          </a:xfrm>
          <a:prstGeom prst="rect">
            <a:avLst/>
          </a:prstGeom>
          <a:noFill/>
        </p:spPr>
        <p:txBody>
          <a:bodyPr wrap="square">
            <a:spAutoFit/>
          </a:bodyPr>
          <a:lstStyle/>
          <a:p>
            <a:pPr marL="571500" indent="-571500">
              <a:buFont typeface="Wingdings" panose="05000000000000000000" pitchFamily="2" charset="2"/>
              <a:buChar char="q"/>
            </a:pPr>
            <a:r>
              <a:rPr lang="en-US" sz="4000" dirty="0"/>
              <a:t>Compare values between categories.</a:t>
            </a:r>
          </a:p>
          <a:p>
            <a:pPr marL="571500" indent="-571500">
              <a:buFont typeface="Wingdings" panose="05000000000000000000" pitchFamily="2" charset="2"/>
              <a:buChar char="q"/>
            </a:pPr>
            <a:r>
              <a:rPr lang="en-US" sz="4000" dirty="0"/>
              <a:t>High School level shows the highest average salary.</a:t>
            </a:r>
          </a:p>
          <a:p>
            <a:pPr marL="571500" indent="-571500">
              <a:buFont typeface="Wingdings" panose="05000000000000000000" pitchFamily="2" charset="2"/>
              <a:buChar char="q"/>
            </a:pPr>
            <a:r>
              <a:rPr lang="en-US" sz="4000" dirty="0"/>
              <a:t>Bachelor’s and Master’s have similar salary ranges.</a:t>
            </a:r>
          </a:p>
          <a:p>
            <a:pPr marL="571500" indent="-571500">
              <a:buFont typeface="Wingdings" panose="05000000000000000000" pitchFamily="2" charset="2"/>
              <a:buChar char="q"/>
            </a:pPr>
            <a:r>
              <a:rPr lang="en-US" sz="4000" dirty="0"/>
              <a:t>PhD has the lowest average salary in this data.</a:t>
            </a:r>
            <a:endParaRPr lang="en-IN" sz="4000" dirty="0"/>
          </a:p>
        </p:txBody>
      </p:sp>
    </p:spTree>
    <p:extLst>
      <p:ext uri="{BB962C8B-B14F-4D97-AF65-F5344CB8AC3E}">
        <p14:creationId xmlns:p14="http://schemas.microsoft.com/office/powerpoint/2010/main" val="27039368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2CA99-47B4-713B-C182-E268C8B496A2}"/>
              </a:ext>
            </a:extLst>
          </p:cNvPr>
          <p:cNvSpPr>
            <a:spLocks noGrp="1"/>
          </p:cNvSpPr>
          <p:nvPr>
            <p:ph type="title"/>
          </p:nvPr>
        </p:nvSpPr>
        <p:spPr>
          <a:xfrm>
            <a:off x="838200" y="243430"/>
            <a:ext cx="10515600" cy="893404"/>
          </a:xfrm>
        </p:spPr>
        <p:txBody>
          <a:bodyPr>
            <a:normAutofit/>
          </a:bodyPr>
          <a:lstStyle/>
          <a:p>
            <a:pPr algn="ctr"/>
            <a:r>
              <a:rPr lang="en-US" sz="4800" b="1" dirty="0">
                <a:latin typeface="+mn-lt"/>
              </a:rPr>
              <a:t>BUBBLE CHART</a:t>
            </a:r>
            <a:endParaRPr lang="en-IN" sz="4800" b="1" dirty="0">
              <a:latin typeface="+mn-lt"/>
            </a:endParaRPr>
          </a:p>
        </p:txBody>
      </p:sp>
      <p:pic>
        <p:nvPicPr>
          <p:cNvPr id="5" name="Content Placeholder 4">
            <a:extLst>
              <a:ext uri="{FF2B5EF4-FFF2-40B4-BE49-F238E27FC236}">
                <a16:creationId xmlns:a16="http://schemas.microsoft.com/office/drawing/2014/main" id="{9291F899-856B-690F-5A2C-A876A81D95D2}"/>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530290" y="1863182"/>
            <a:ext cx="4625126" cy="4751388"/>
          </a:xfrm>
        </p:spPr>
      </p:pic>
      <p:sp>
        <p:nvSpPr>
          <p:cNvPr id="7" name="TextBox 6">
            <a:extLst>
              <a:ext uri="{FF2B5EF4-FFF2-40B4-BE49-F238E27FC236}">
                <a16:creationId xmlns:a16="http://schemas.microsoft.com/office/drawing/2014/main" id="{96666162-01C8-7CF0-B40B-554945F8C36D}"/>
              </a:ext>
            </a:extLst>
          </p:cNvPr>
          <p:cNvSpPr txBox="1"/>
          <p:nvPr/>
        </p:nvSpPr>
        <p:spPr>
          <a:xfrm>
            <a:off x="5463326" y="1721166"/>
            <a:ext cx="6680718" cy="5016758"/>
          </a:xfrm>
          <a:prstGeom prst="rect">
            <a:avLst/>
          </a:prstGeom>
          <a:noFill/>
        </p:spPr>
        <p:txBody>
          <a:bodyPr wrap="square">
            <a:spAutoFit/>
          </a:bodyPr>
          <a:lstStyle/>
          <a:p>
            <a:pPr marL="571500" indent="-571500">
              <a:buFont typeface="Wingdings" panose="05000000000000000000" pitchFamily="2" charset="2"/>
              <a:buChar char="q"/>
            </a:pPr>
            <a:r>
              <a:rPr lang="en-US" sz="4000" dirty="0"/>
              <a:t>Visualize 3 dimensions of data (X, Y, and size).</a:t>
            </a:r>
          </a:p>
          <a:p>
            <a:pPr marL="571500" indent="-571500">
              <a:buFont typeface="Wingdings" panose="05000000000000000000" pitchFamily="2" charset="2"/>
              <a:buChar char="q"/>
            </a:pPr>
            <a:r>
              <a:rPr lang="en-US" sz="4000" dirty="0"/>
              <a:t>High School has the highest AI exposure.</a:t>
            </a:r>
          </a:p>
          <a:p>
            <a:pPr marL="571500" indent="-571500">
              <a:buFont typeface="Wingdings" panose="05000000000000000000" pitchFamily="2" charset="2"/>
              <a:buChar char="q"/>
            </a:pPr>
            <a:r>
              <a:rPr lang="en-US" sz="4000" dirty="0"/>
              <a:t>AI exposure decreases with higher education.</a:t>
            </a:r>
          </a:p>
          <a:p>
            <a:pPr marL="571500" indent="-571500">
              <a:buFont typeface="Wingdings" panose="05000000000000000000" pitchFamily="2" charset="2"/>
              <a:buChar char="q"/>
            </a:pPr>
            <a:r>
              <a:rPr lang="en-US" sz="4000" dirty="0"/>
              <a:t>PhD has the lowest AI exposure.</a:t>
            </a:r>
            <a:endParaRPr lang="en-IN" sz="4000" dirty="0"/>
          </a:p>
        </p:txBody>
      </p:sp>
    </p:spTree>
    <p:extLst>
      <p:ext uri="{BB962C8B-B14F-4D97-AF65-F5344CB8AC3E}">
        <p14:creationId xmlns:p14="http://schemas.microsoft.com/office/powerpoint/2010/main" val="21097854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3687B-9215-39A8-B7E9-B98AF77B7397}"/>
              </a:ext>
            </a:extLst>
          </p:cNvPr>
          <p:cNvSpPr>
            <a:spLocks noGrp="1"/>
          </p:cNvSpPr>
          <p:nvPr>
            <p:ph type="title"/>
          </p:nvPr>
        </p:nvSpPr>
        <p:spPr>
          <a:xfrm>
            <a:off x="838200" y="365126"/>
            <a:ext cx="10515600" cy="922900"/>
          </a:xfrm>
        </p:spPr>
        <p:txBody>
          <a:bodyPr>
            <a:normAutofit/>
          </a:bodyPr>
          <a:lstStyle/>
          <a:p>
            <a:pPr algn="ctr"/>
            <a:r>
              <a:rPr lang="en-US" sz="4800" b="1" dirty="0">
                <a:latin typeface="+mn-lt"/>
              </a:rPr>
              <a:t>TREE MAP</a:t>
            </a:r>
            <a:endParaRPr lang="en-IN" sz="4800" b="1" dirty="0">
              <a:latin typeface="+mn-lt"/>
            </a:endParaRPr>
          </a:p>
        </p:txBody>
      </p:sp>
      <p:pic>
        <p:nvPicPr>
          <p:cNvPr id="5" name="Content Placeholder 4">
            <a:extLst>
              <a:ext uri="{FF2B5EF4-FFF2-40B4-BE49-F238E27FC236}">
                <a16:creationId xmlns:a16="http://schemas.microsoft.com/office/drawing/2014/main" id="{6F1E9364-2B2E-7E4F-A687-60ED46CCC15E}"/>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80013" y="1502329"/>
            <a:ext cx="5185791" cy="4857136"/>
          </a:xfrm>
        </p:spPr>
      </p:pic>
      <p:sp>
        <p:nvSpPr>
          <p:cNvPr id="7" name="TextBox 6">
            <a:extLst>
              <a:ext uri="{FF2B5EF4-FFF2-40B4-BE49-F238E27FC236}">
                <a16:creationId xmlns:a16="http://schemas.microsoft.com/office/drawing/2014/main" id="{F6B69F29-0484-713E-484E-DCD64924B220}"/>
              </a:ext>
            </a:extLst>
          </p:cNvPr>
          <p:cNvSpPr txBox="1"/>
          <p:nvPr/>
        </p:nvSpPr>
        <p:spPr>
          <a:xfrm>
            <a:off x="5365804" y="1288026"/>
            <a:ext cx="6826196" cy="5632311"/>
          </a:xfrm>
          <a:prstGeom prst="rect">
            <a:avLst/>
          </a:prstGeom>
          <a:noFill/>
        </p:spPr>
        <p:txBody>
          <a:bodyPr wrap="square">
            <a:spAutoFit/>
          </a:bodyPr>
          <a:lstStyle/>
          <a:p>
            <a:pPr marL="571500" indent="-571500">
              <a:buFont typeface="Wingdings" panose="05000000000000000000" pitchFamily="2" charset="2"/>
              <a:buChar char="q"/>
            </a:pPr>
            <a:r>
              <a:rPr lang="en-IN" sz="4000" dirty="0"/>
              <a:t>Show hierarchical data</a:t>
            </a:r>
          </a:p>
          <a:p>
            <a:pPr marL="571500" indent="-571500">
              <a:buFont typeface="Wingdings" panose="05000000000000000000" pitchFamily="2" charset="2"/>
              <a:buChar char="q"/>
            </a:pPr>
            <a:r>
              <a:rPr lang="en-US" sz="4000" dirty="0"/>
              <a:t>Data Scientist and Graphic Designer have high AI exposure.</a:t>
            </a:r>
          </a:p>
          <a:p>
            <a:pPr marL="571500" indent="-571500">
              <a:buFont typeface="Wingdings" panose="05000000000000000000" pitchFamily="2" charset="2"/>
              <a:buChar char="q"/>
            </a:pPr>
            <a:r>
              <a:rPr lang="en-US" sz="4000" dirty="0"/>
              <a:t>HR Specialist and Construction Worker have medium AI exposure.</a:t>
            </a:r>
          </a:p>
          <a:p>
            <a:pPr marL="571500" indent="-571500">
              <a:buFont typeface="Wingdings" panose="05000000000000000000" pitchFamily="2" charset="2"/>
              <a:buChar char="q"/>
            </a:pPr>
            <a:r>
              <a:rPr lang="en-US" sz="4000" dirty="0"/>
              <a:t>Doctor and Lawyer have low AI exposure.</a:t>
            </a:r>
          </a:p>
        </p:txBody>
      </p:sp>
    </p:spTree>
    <p:extLst>
      <p:ext uri="{BB962C8B-B14F-4D97-AF65-F5344CB8AC3E}">
        <p14:creationId xmlns:p14="http://schemas.microsoft.com/office/powerpoint/2010/main" val="20823116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C2443-BFE2-218B-89AF-5B7322F164A4}"/>
              </a:ext>
            </a:extLst>
          </p:cNvPr>
          <p:cNvSpPr>
            <a:spLocks noGrp="1"/>
          </p:cNvSpPr>
          <p:nvPr>
            <p:ph type="title"/>
          </p:nvPr>
        </p:nvSpPr>
        <p:spPr>
          <a:xfrm>
            <a:off x="838200" y="365125"/>
            <a:ext cx="10515600" cy="922901"/>
          </a:xfrm>
        </p:spPr>
        <p:txBody>
          <a:bodyPr>
            <a:normAutofit/>
          </a:bodyPr>
          <a:lstStyle/>
          <a:p>
            <a:pPr algn="ctr"/>
            <a:r>
              <a:rPr lang="en-US" sz="4800" b="1" dirty="0">
                <a:latin typeface="+mn-lt"/>
              </a:rPr>
              <a:t>DONUT CHART</a:t>
            </a:r>
            <a:endParaRPr lang="en-IN" sz="4800" b="1" dirty="0">
              <a:latin typeface="+mn-lt"/>
            </a:endParaRPr>
          </a:p>
        </p:txBody>
      </p:sp>
      <p:pic>
        <p:nvPicPr>
          <p:cNvPr id="5" name="Content Placeholder 4">
            <a:extLst>
              <a:ext uri="{FF2B5EF4-FFF2-40B4-BE49-F238E27FC236}">
                <a16:creationId xmlns:a16="http://schemas.microsoft.com/office/drawing/2014/main" id="{DA8CE79A-49B7-9771-FA9A-74A7E12596CE}"/>
              </a:ext>
            </a:extLst>
          </p:cNvPr>
          <p:cNvPicPr>
            <a:picLocks noGrp="1" noChangeAspect="1"/>
          </p:cNvPicPr>
          <p:nvPr>
            <p:ph idx="1"/>
          </p:nvPr>
        </p:nvPicPr>
        <p:blipFill>
          <a:blip r:embed="rId4">
            <a:extLst>
              <a:ext uri="{28A0092B-C50C-407E-A947-70E740481C1C}">
                <a14:useLocalDpi xmlns:a14="http://schemas.microsoft.com/office/drawing/2010/main" val="0"/>
              </a:ext>
            </a:extLst>
          </a:blip>
          <a:srcRect/>
          <a:stretch/>
        </p:blipFill>
        <p:spPr>
          <a:xfrm>
            <a:off x="204314" y="1752601"/>
            <a:ext cx="4545485" cy="3797300"/>
          </a:xfrm>
        </p:spPr>
      </p:pic>
      <p:sp>
        <p:nvSpPr>
          <p:cNvPr id="7" name="TextBox 6">
            <a:extLst>
              <a:ext uri="{FF2B5EF4-FFF2-40B4-BE49-F238E27FC236}">
                <a16:creationId xmlns:a16="http://schemas.microsoft.com/office/drawing/2014/main" id="{002E5883-C1A2-F5D7-B6DE-866457C2BD80}"/>
              </a:ext>
            </a:extLst>
          </p:cNvPr>
          <p:cNvSpPr txBox="1"/>
          <p:nvPr/>
        </p:nvSpPr>
        <p:spPr>
          <a:xfrm>
            <a:off x="4838700" y="1370488"/>
            <a:ext cx="7353300" cy="5016758"/>
          </a:xfrm>
          <a:prstGeom prst="rect">
            <a:avLst/>
          </a:prstGeom>
          <a:noFill/>
        </p:spPr>
        <p:txBody>
          <a:bodyPr wrap="square">
            <a:spAutoFit/>
          </a:bodyPr>
          <a:lstStyle/>
          <a:p>
            <a:pPr marL="571500" indent="-571500">
              <a:buFont typeface="Wingdings" panose="05000000000000000000" pitchFamily="2" charset="2"/>
              <a:buChar char="q"/>
            </a:pPr>
            <a:r>
              <a:rPr lang="en-US" sz="4000" dirty="0"/>
              <a:t>Percentage(Stylish version of pie)</a:t>
            </a:r>
          </a:p>
          <a:p>
            <a:pPr marL="571500" indent="-571500">
              <a:buFont typeface="Wingdings" panose="05000000000000000000" pitchFamily="2" charset="2"/>
              <a:buChar char="q"/>
            </a:pPr>
            <a:r>
              <a:rPr lang="en-US" sz="4000" dirty="0"/>
              <a:t>Most jobs fall under the medium risk category.</a:t>
            </a:r>
          </a:p>
          <a:p>
            <a:pPr marL="571500" indent="-571500">
              <a:buFont typeface="Wingdings" panose="05000000000000000000" pitchFamily="2" charset="2"/>
              <a:buChar char="q"/>
            </a:pPr>
            <a:r>
              <a:rPr lang="en-US" sz="4000" dirty="0"/>
              <a:t>A large portion is also in the high-risk group.</a:t>
            </a:r>
          </a:p>
          <a:p>
            <a:pPr marL="571500" indent="-571500">
              <a:buFont typeface="Wingdings" panose="05000000000000000000" pitchFamily="2" charset="2"/>
              <a:buChar char="q"/>
            </a:pPr>
            <a:r>
              <a:rPr lang="en-US" sz="4000" dirty="0"/>
              <a:t>Very few jobs are in the low-risk category</a:t>
            </a:r>
            <a:r>
              <a:rPr lang="en-US" dirty="0"/>
              <a:t>.</a:t>
            </a:r>
            <a:endParaRPr lang="en-IN" dirty="0"/>
          </a:p>
        </p:txBody>
      </p:sp>
    </p:spTree>
    <p:extLst>
      <p:ext uri="{BB962C8B-B14F-4D97-AF65-F5344CB8AC3E}">
        <p14:creationId xmlns:p14="http://schemas.microsoft.com/office/powerpoint/2010/main" val="12011197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CF971-CD40-D82E-9E0C-5C1658FC3A0C}"/>
              </a:ext>
            </a:extLst>
          </p:cNvPr>
          <p:cNvSpPr>
            <a:spLocks noGrp="1"/>
          </p:cNvSpPr>
          <p:nvPr>
            <p:ph type="title"/>
          </p:nvPr>
        </p:nvSpPr>
        <p:spPr>
          <a:xfrm>
            <a:off x="838200" y="365126"/>
            <a:ext cx="10515600" cy="952398"/>
          </a:xfrm>
        </p:spPr>
        <p:txBody>
          <a:bodyPr>
            <a:normAutofit/>
          </a:bodyPr>
          <a:lstStyle/>
          <a:p>
            <a:pPr algn="ctr"/>
            <a:r>
              <a:rPr lang="en-US" sz="4800" b="1" dirty="0">
                <a:latin typeface="+mn-lt"/>
              </a:rPr>
              <a:t>PIE CHART</a:t>
            </a:r>
            <a:endParaRPr lang="en-IN" sz="4800" b="1" dirty="0">
              <a:latin typeface="+mn-lt"/>
            </a:endParaRPr>
          </a:p>
        </p:txBody>
      </p:sp>
      <p:pic>
        <p:nvPicPr>
          <p:cNvPr id="5" name="Content Placeholder 4">
            <a:extLst>
              <a:ext uri="{FF2B5EF4-FFF2-40B4-BE49-F238E27FC236}">
                <a16:creationId xmlns:a16="http://schemas.microsoft.com/office/drawing/2014/main" id="{512D3271-6E5C-8260-FDF1-621B7F2C2C29}"/>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285134" y="1504334"/>
            <a:ext cx="3940933" cy="5065909"/>
          </a:xfrm>
        </p:spPr>
      </p:pic>
      <p:sp>
        <p:nvSpPr>
          <p:cNvPr id="7" name="TextBox 6">
            <a:extLst>
              <a:ext uri="{FF2B5EF4-FFF2-40B4-BE49-F238E27FC236}">
                <a16:creationId xmlns:a16="http://schemas.microsoft.com/office/drawing/2014/main" id="{4351313F-860E-BD62-D588-B6F11E5B02C3}"/>
              </a:ext>
            </a:extLst>
          </p:cNvPr>
          <p:cNvSpPr txBox="1"/>
          <p:nvPr/>
        </p:nvSpPr>
        <p:spPr>
          <a:xfrm>
            <a:off x="4226068" y="1317524"/>
            <a:ext cx="8118332" cy="6247864"/>
          </a:xfrm>
          <a:prstGeom prst="rect">
            <a:avLst/>
          </a:prstGeom>
          <a:noFill/>
        </p:spPr>
        <p:txBody>
          <a:bodyPr wrap="square">
            <a:spAutoFit/>
          </a:bodyPr>
          <a:lstStyle/>
          <a:p>
            <a:pPr marL="571500" indent="-571500">
              <a:buFont typeface="Wingdings" panose="05000000000000000000" pitchFamily="2" charset="2"/>
              <a:buChar char="q"/>
            </a:pPr>
            <a:r>
              <a:rPr lang="en-US" sz="4000" dirty="0"/>
              <a:t>Show percentage(part of whole)</a:t>
            </a:r>
          </a:p>
          <a:p>
            <a:pPr marL="571500" indent="-571500">
              <a:buFont typeface="Wingdings" panose="05000000000000000000" pitchFamily="2" charset="2"/>
              <a:buChar char="q"/>
            </a:pPr>
            <a:r>
              <a:rPr lang="en-US" sz="4000" dirty="0"/>
              <a:t>UX Researchers and Teachers have the highest experience.</a:t>
            </a:r>
          </a:p>
          <a:p>
            <a:pPr marL="571500" indent="-571500">
              <a:buFont typeface="Wingdings" panose="05000000000000000000" pitchFamily="2" charset="2"/>
              <a:buChar char="q"/>
            </a:pPr>
            <a:r>
              <a:rPr lang="en-US" sz="4000" dirty="0"/>
              <a:t>Software Engineers and Designers also show high experience.</a:t>
            </a:r>
          </a:p>
          <a:p>
            <a:pPr marL="571500" indent="-571500">
              <a:buFont typeface="Wingdings" panose="05000000000000000000" pitchFamily="2" charset="2"/>
              <a:buChar char="q"/>
            </a:pPr>
            <a:r>
              <a:rPr lang="en-US" sz="4000" dirty="0"/>
              <a:t>Marketing Managers and Doctors show comparatively lower experience.</a:t>
            </a:r>
          </a:p>
          <a:p>
            <a:endParaRPr lang="en-US" sz="4000" dirty="0"/>
          </a:p>
        </p:txBody>
      </p:sp>
    </p:spTree>
    <p:extLst>
      <p:ext uri="{BB962C8B-B14F-4D97-AF65-F5344CB8AC3E}">
        <p14:creationId xmlns:p14="http://schemas.microsoft.com/office/powerpoint/2010/main" val="631108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AA33EA-D41E-43B4-B434-47236CA72D2E}"/>
              </a:ext>
            </a:extLst>
          </p:cNvPr>
          <p:cNvSpPr>
            <a:spLocks noGrp="1"/>
          </p:cNvSpPr>
          <p:nvPr>
            <p:ph type="title"/>
          </p:nvPr>
        </p:nvSpPr>
        <p:spPr>
          <a:xfrm>
            <a:off x="716280" y="283846"/>
            <a:ext cx="10515600" cy="972062"/>
          </a:xfrm>
        </p:spPr>
        <p:txBody>
          <a:bodyPr>
            <a:normAutofit/>
          </a:bodyPr>
          <a:lstStyle/>
          <a:p>
            <a:pPr algn="ctr"/>
            <a:r>
              <a:rPr lang="en-US" sz="4800" b="1" dirty="0">
                <a:latin typeface="+mn-lt"/>
              </a:rPr>
              <a:t>LOLLIPOP CHART</a:t>
            </a:r>
            <a:endParaRPr lang="en-IN" sz="4800" b="1" dirty="0">
              <a:latin typeface="+mn-lt"/>
            </a:endParaRPr>
          </a:p>
        </p:txBody>
      </p:sp>
      <p:pic>
        <p:nvPicPr>
          <p:cNvPr id="5" name="Content Placeholder 4">
            <a:extLst>
              <a:ext uri="{FF2B5EF4-FFF2-40B4-BE49-F238E27FC236}">
                <a16:creationId xmlns:a16="http://schemas.microsoft.com/office/drawing/2014/main" id="{3D89C8E2-3F2E-0221-359C-9E5EC26F0C47}"/>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a:stretch/>
        </p:blipFill>
        <p:spPr>
          <a:xfrm>
            <a:off x="130360" y="1778000"/>
            <a:ext cx="4589124" cy="4796153"/>
          </a:xfrm>
        </p:spPr>
      </p:pic>
      <p:sp>
        <p:nvSpPr>
          <p:cNvPr id="7" name="TextBox 6">
            <a:extLst>
              <a:ext uri="{FF2B5EF4-FFF2-40B4-BE49-F238E27FC236}">
                <a16:creationId xmlns:a16="http://schemas.microsoft.com/office/drawing/2014/main" id="{04034CDB-1372-8808-4578-C6EBF87CA34A}"/>
              </a:ext>
            </a:extLst>
          </p:cNvPr>
          <p:cNvSpPr txBox="1"/>
          <p:nvPr/>
        </p:nvSpPr>
        <p:spPr>
          <a:xfrm>
            <a:off x="4837471" y="1387353"/>
            <a:ext cx="7224169" cy="6247864"/>
          </a:xfrm>
          <a:prstGeom prst="rect">
            <a:avLst/>
          </a:prstGeom>
          <a:noFill/>
        </p:spPr>
        <p:txBody>
          <a:bodyPr wrap="square">
            <a:spAutoFit/>
          </a:bodyPr>
          <a:lstStyle/>
          <a:p>
            <a:pPr marL="571500" indent="-571500">
              <a:buFont typeface="Wingdings" panose="05000000000000000000" pitchFamily="2" charset="2"/>
              <a:buChar char="q"/>
            </a:pPr>
            <a:r>
              <a:rPr lang="en-US" sz="4000" dirty="0"/>
              <a:t>Compare categories (Cleaner than Bar)</a:t>
            </a:r>
          </a:p>
          <a:p>
            <a:pPr marL="571500" indent="-571500">
              <a:buFont typeface="Wingdings" panose="05000000000000000000" pitchFamily="2" charset="2"/>
              <a:buChar char="q"/>
            </a:pPr>
            <a:r>
              <a:rPr lang="en-US" sz="4000" dirty="0"/>
              <a:t>Construction, retail, and security jobs have the highest automation risk.</a:t>
            </a:r>
          </a:p>
          <a:p>
            <a:pPr marL="571500" indent="-571500">
              <a:buFont typeface="Wingdings" panose="05000000000000000000" pitchFamily="2" charset="2"/>
              <a:buChar char="q"/>
            </a:pPr>
            <a:r>
              <a:rPr lang="en-US" sz="4000" dirty="0"/>
              <a:t>Customer support and truck driving are also highly at risk.</a:t>
            </a:r>
          </a:p>
          <a:p>
            <a:pPr marL="571500" indent="-571500">
              <a:buFont typeface="Wingdings" panose="05000000000000000000" pitchFamily="2" charset="2"/>
              <a:buChar char="q"/>
            </a:pPr>
            <a:r>
              <a:rPr lang="en-US" sz="4000" dirty="0"/>
              <a:t>Tech and design roles show medium risk.</a:t>
            </a:r>
          </a:p>
          <a:p>
            <a:pPr marL="457200" indent="-457200">
              <a:buFont typeface="Wingdings" panose="05000000000000000000" pitchFamily="2" charset="2"/>
              <a:buChar char="q"/>
            </a:pPr>
            <a:endParaRPr lang="en-IN" sz="4000" dirty="0"/>
          </a:p>
        </p:txBody>
      </p:sp>
    </p:spTree>
    <p:extLst>
      <p:ext uri="{BB962C8B-B14F-4D97-AF65-F5344CB8AC3E}">
        <p14:creationId xmlns:p14="http://schemas.microsoft.com/office/powerpoint/2010/main" val="32852168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A82F68C-E6F0-7373-E25A-1713A44E47F6}"/>
              </a:ext>
            </a:extLst>
          </p:cNvPr>
          <p:cNvSpPr>
            <a:spLocks noGrp="1"/>
          </p:cNvSpPr>
          <p:nvPr>
            <p:ph type="title"/>
          </p:nvPr>
        </p:nvSpPr>
        <p:spPr>
          <a:xfrm>
            <a:off x="838200" y="279400"/>
            <a:ext cx="10515600" cy="911225"/>
          </a:xfrm>
        </p:spPr>
        <p:txBody>
          <a:bodyPr>
            <a:normAutofit/>
          </a:bodyPr>
          <a:lstStyle/>
          <a:p>
            <a:pPr algn="ctr"/>
            <a:r>
              <a:rPr lang="en-US" sz="4800" b="1" dirty="0">
                <a:latin typeface="+mn-lt"/>
              </a:rPr>
              <a:t>FINDINGS</a:t>
            </a:r>
            <a:endParaRPr lang="en-IN" sz="4800" b="1" dirty="0">
              <a:latin typeface="+mn-lt"/>
            </a:endParaRPr>
          </a:p>
        </p:txBody>
      </p:sp>
      <p:sp>
        <p:nvSpPr>
          <p:cNvPr id="5" name="Rectangle 1">
            <a:extLst>
              <a:ext uri="{FF2B5EF4-FFF2-40B4-BE49-F238E27FC236}">
                <a16:creationId xmlns:a16="http://schemas.microsoft.com/office/drawing/2014/main" id="{53AA6A1E-D134-6825-716C-31C523A73A85}"/>
              </a:ext>
            </a:extLst>
          </p:cNvPr>
          <p:cNvSpPr>
            <a:spLocks noGrp="1" noChangeArrowheads="1"/>
          </p:cNvSpPr>
          <p:nvPr>
            <p:ph idx="1"/>
          </p:nvPr>
        </p:nvSpPr>
        <p:spPr bwMode="auto">
          <a:xfrm>
            <a:off x="0" y="1356473"/>
            <a:ext cx="12191999" cy="5723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buFont typeface="Wingdings" panose="05000000000000000000" pitchFamily="2" charset="2"/>
              <a:buChar char="q"/>
            </a:pPr>
            <a:r>
              <a:rPr lang="en-US" sz="4000" dirty="0"/>
              <a:t> Majority of jobs show </a:t>
            </a:r>
            <a:r>
              <a:rPr lang="en-US" sz="4000" b="1" dirty="0"/>
              <a:t>medium exposure to AI     automation</a:t>
            </a:r>
            <a:endParaRPr lang="en-US" sz="4000" dirty="0"/>
          </a:p>
          <a:p>
            <a:pPr>
              <a:buFont typeface="Wingdings" panose="05000000000000000000" pitchFamily="2" charset="2"/>
              <a:buChar char="q"/>
            </a:pPr>
            <a:r>
              <a:rPr lang="en-US" sz="4000" b="1" dirty="0"/>
              <a:t>Repetitive and routine roles</a:t>
            </a:r>
            <a:r>
              <a:rPr lang="en-US" sz="4000" dirty="0"/>
              <a:t> face higher automation risk</a:t>
            </a:r>
          </a:p>
          <a:p>
            <a:pPr>
              <a:buFont typeface="Wingdings" panose="05000000000000000000" pitchFamily="2" charset="2"/>
              <a:buChar char="q"/>
            </a:pPr>
            <a:r>
              <a:rPr lang="en-US" sz="4000" b="1" dirty="0"/>
              <a:t>Skilled and knowledge-based jobs</a:t>
            </a:r>
            <a:r>
              <a:rPr lang="en-US" sz="4000" dirty="0"/>
              <a:t> remain more secure</a:t>
            </a:r>
          </a:p>
          <a:p>
            <a:pPr>
              <a:buFont typeface="Wingdings" panose="05000000000000000000" pitchFamily="2" charset="2"/>
              <a:buChar char="q"/>
            </a:pPr>
            <a:r>
              <a:rPr lang="en-US" sz="4000" dirty="0"/>
              <a:t>AI is mainly </a:t>
            </a:r>
            <a:r>
              <a:rPr lang="en-US" sz="4000" b="1" dirty="0"/>
              <a:t>reshaping tasks</a:t>
            </a:r>
            <a:r>
              <a:rPr lang="en-US" sz="4000" dirty="0"/>
              <a:t>, not eliminating jobs</a:t>
            </a:r>
          </a:p>
          <a:p>
            <a:pPr>
              <a:buFont typeface="Wingdings" panose="05000000000000000000" pitchFamily="2" charset="2"/>
              <a:buChar char="q"/>
            </a:pPr>
            <a:r>
              <a:rPr lang="en-US" sz="4000" b="1" dirty="0"/>
              <a:t>Upskilling and reskilling</a:t>
            </a:r>
            <a:r>
              <a:rPr lang="en-US" sz="4000" dirty="0"/>
              <a:t> improve future job stability</a:t>
            </a:r>
          </a:p>
          <a:p>
            <a:pPr>
              <a:buFont typeface="Wingdings" panose="05000000000000000000" pitchFamily="2" charset="2"/>
              <a:buChar char="q"/>
            </a:pPr>
            <a:endParaRPr kumimoji="0" lang="en-US" altLang="en-US" sz="4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242903088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E735A-A6C2-5E61-7E8C-7A8B5171152B}"/>
              </a:ext>
            </a:extLst>
          </p:cNvPr>
          <p:cNvSpPr>
            <a:spLocks noGrp="1"/>
          </p:cNvSpPr>
          <p:nvPr>
            <p:ph type="title"/>
          </p:nvPr>
        </p:nvSpPr>
        <p:spPr/>
        <p:txBody>
          <a:bodyPr>
            <a:normAutofit/>
          </a:bodyPr>
          <a:lstStyle/>
          <a:p>
            <a:pPr algn="ctr"/>
            <a:r>
              <a:rPr lang="en-US" sz="4800" b="1" dirty="0">
                <a:latin typeface="+mn-lt"/>
              </a:rPr>
              <a:t>CONCLUSION</a:t>
            </a:r>
            <a:endParaRPr lang="en-IN" sz="4800" b="1" dirty="0">
              <a:latin typeface="+mn-lt"/>
            </a:endParaRPr>
          </a:p>
        </p:txBody>
      </p:sp>
      <p:sp>
        <p:nvSpPr>
          <p:cNvPr id="4" name="Rectangle 1">
            <a:extLst>
              <a:ext uri="{FF2B5EF4-FFF2-40B4-BE49-F238E27FC236}">
                <a16:creationId xmlns:a16="http://schemas.microsoft.com/office/drawing/2014/main" id="{71AB4220-CDC1-BAFF-8B64-ADAE6A5CC444}"/>
              </a:ext>
            </a:extLst>
          </p:cNvPr>
          <p:cNvSpPr>
            <a:spLocks noGrp="1" noChangeArrowheads="1"/>
          </p:cNvSpPr>
          <p:nvPr>
            <p:ph idx="1"/>
          </p:nvPr>
        </p:nvSpPr>
        <p:spPr bwMode="auto">
          <a:xfrm>
            <a:off x="685051" y="1783806"/>
            <a:ext cx="11022185"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lnSpc>
                <a:spcPct val="100000"/>
              </a:lnSpc>
              <a:spcBef>
                <a:spcPct val="0"/>
              </a:spcBef>
              <a:spcAft>
                <a:spcPct val="0"/>
              </a:spcAft>
              <a:buFont typeface="Wingdings" panose="05000000000000000000" pitchFamily="2" charset="2"/>
              <a:buChar char="q"/>
            </a:pPr>
            <a:r>
              <a:rPr kumimoji="0" lang="en-US" altLang="en-US" sz="4000" b="0" i="0" u="none" strike="noStrike" cap="none" normalizeH="0" baseline="0" dirty="0">
                <a:ln>
                  <a:noFill/>
                </a:ln>
                <a:solidFill>
                  <a:schemeClr val="tx1"/>
                </a:solidFill>
                <a:effectLst/>
              </a:rPr>
              <a:t>  AI will </a:t>
            </a:r>
            <a:r>
              <a:rPr kumimoji="0" lang="en-US" altLang="en-US" sz="4000" b="1" i="0" u="none" strike="noStrike" cap="none" normalizeH="0" baseline="0" dirty="0">
                <a:ln>
                  <a:noFill/>
                </a:ln>
                <a:solidFill>
                  <a:schemeClr val="tx1"/>
                </a:solidFill>
                <a:effectLst/>
              </a:rPr>
              <a:t>transform jobs, not fully replace them</a:t>
            </a:r>
            <a:endParaRPr kumimoji="0" lang="en-US" altLang="en-US" sz="4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0" i="0" u="none" strike="noStrike" cap="none" normalizeH="0" baseline="0" dirty="0">
                <a:ln>
                  <a:noFill/>
                </a:ln>
                <a:solidFill>
                  <a:schemeClr val="tx1"/>
                </a:solidFill>
                <a:effectLst/>
              </a:rPr>
              <a:t>  Most roles face </a:t>
            </a:r>
            <a:r>
              <a:rPr kumimoji="0" lang="en-US" altLang="en-US" sz="4000" b="1" i="0" u="none" strike="noStrike" cap="none" normalizeH="0" baseline="0" dirty="0">
                <a:ln>
                  <a:noFill/>
                </a:ln>
                <a:solidFill>
                  <a:schemeClr val="tx1"/>
                </a:solidFill>
                <a:effectLst/>
              </a:rPr>
              <a:t>medium automation risk</a:t>
            </a:r>
            <a:endParaRPr kumimoji="0" lang="en-US" altLang="en-US" sz="4000" b="0" i="0" u="none" strike="noStrike" cap="none" normalizeH="0" baseline="0" dirty="0">
              <a:ln>
                <a:noFill/>
              </a:ln>
              <a:solidFill>
                <a:schemeClr val="tx1"/>
              </a:solidFill>
              <a:effectLst/>
            </a:endParaRPr>
          </a:p>
          <a:p>
            <a:pPr eaLnBrk="0" fontAlgn="base" hangingPunct="0">
              <a:lnSpc>
                <a:spcPct val="100000"/>
              </a:lnSpc>
              <a:spcBef>
                <a:spcPct val="0"/>
              </a:spcBef>
              <a:spcAft>
                <a:spcPct val="0"/>
              </a:spcAft>
              <a:buFont typeface="Wingdings" panose="05000000000000000000" pitchFamily="2" charset="2"/>
              <a:buChar char="q"/>
            </a:pPr>
            <a:r>
              <a:rPr kumimoji="0" lang="en-US" altLang="en-US" sz="4000" b="0" i="0" u="none" strike="noStrike" cap="none" normalizeH="0" baseline="0" dirty="0">
                <a:ln>
                  <a:noFill/>
                </a:ln>
                <a:solidFill>
                  <a:schemeClr val="tx1"/>
                </a:solidFill>
                <a:effectLst/>
              </a:rPr>
              <a:t>  Repetitive jobs have </a:t>
            </a:r>
            <a:r>
              <a:rPr kumimoji="0" lang="en-US" altLang="en-US" sz="4000" b="1" i="0" u="none" strike="noStrike" cap="none" normalizeH="0" baseline="0" dirty="0">
                <a:ln>
                  <a:noFill/>
                </a:ln>
                <a:solidFill>
                  <a:schemeClr val="tx1"/>
                </a:solidFill>
                <a:effectLst/>
              </a:rPr>
              <a:t>higher AI impact</a:t>
            </a:r>
            <a:endParaRPr kumimoji="0" lang="en-US" altLang="en-US" sz="4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0" i="0" u="none" strike="noStrike" cap="none" normalizeH="0" baseline="0" dirty="0">
                <a:ln>
                  <a:noFill/>
                </a:ln>
                <a:solidFill>
                  <a:schemeClr val="tx1"/>
                </a:solidFill>
                <a:effectLst/>
              </a:rPr>
              <a:t>  Skilled and creative jobs are </a:t>
            </a:r>
            <a:r>
              <a:rPr kumimoji="0" lang="en-US" altLang="en-US" sz="4000" b="1" i="0" u="none" strike="noStrike" cap="none" normalizeH="0" baseline="0" dirty="0">
                <a:ln>
                  <a:noFill/>
                </a:ln>
                <a:solidFill>
                  <a:schemeClr val="tx1"/>
                </a:solidFill>
                <a:effectLst/>
              </a:rPr>
              <a:t>more resilient</a:t>
            </a:r>
            <a:endParaRPr kumimoji="0" lang="en-US" altLang="en-US" sz="4000" b="0" i="0" u="none" strike="noStrike" cap="none" normalizeH="0" baseline="0" dirty="0">
              <a:ln>
                <a:noFill/>
              </a:ln>
              <a:solidFill>
                <a:schemeClr val="tx1"/>
              </a:solidFill>
              <a:effectLst/>
            </a:endParaRP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0" i="0" u="none" strike="noStrike" cap="none" normalizeH="0" baseline="0" dirty="0">
                <a:ln>
                  <a:noFill/>
                </a:ln>
                <a:solidFill>
                  <a:schemeClr val="tx1"/>
                </a:solidFill>
                <a:effectLst/>
              </a:rPr>
              <a:t>  Upskilling is essential for future careers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0" i="0" u="none" strike="noStrike" cap="none" normalizeH="0" baseline="0" dirty="0">
                <a:ln>
                  <a:noFill/>
                </a:ln>
                <a:solidFill>
                  <a:schemeClr val="tx1"/>
                </a:solidFill>
                <a:effectLst/>
              </a:rPr>
              <a:t>  AI increases productivity and efficiency</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q"/>
              <a:tabLst/>
            </a:pPr>
            <a:r>
              <a:rPr kumimoji="0" lang="en-US" altLang="en-US" sz="4000" b="0" i="0" u="none" strike="noStrike" cap="none" normalizeH="0" baseline="0" dirty="0">
                <a:ln>
                  <a:noFill/>
                </a:ln>
                <a:solidFill>
                  <a:schemeClr val="tx1"/>
                </a:solidFill>
                <a:effectLst/>
              </a:rPr>
              <a:t>  Job roles will evolve by </a:t>
            </a:r>
            <a:r>
              <a:rPr kumimoji="0" lang="en-US" altLang="en-US" sz="4000" b="1" i="0" u="none" strike="noStrike" cap="none" normalizeH="0" baseline="0" dirty="0">
                <a:ln>
                  <a:noFill/>
                </a:ln>
                <a:solidFill>
                  <a:schemeClr val="tx1"/>
                </a:solidFill>
                <a:effectLst/>
              </a:rPr>
              <a:t>2030</a:t>
            </a:r>
            <a:endParaRPr kumimoji="0" lang="en-US" altLang="en-US" sz="4000"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41296202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A74F3-BB27-1FDB-C799-132BF832F635}"/>
              </a:ext>
            </a:extLst>
          </p:cNvPr>
          <p:cNvSpPr>
            <a:spLocks noGrp="1"/>
          </p:cNvSpPr>
          <p:nvPr>
            <p:ph type="title"/>
          </p:nvPr>
        </p:nvSpPr>
        <p:spPr>
          <a:xfrm>
            <a:off x="838200" y="2005781"/>
            <a:ext cx="10515600" cy="3008671"/>
          </a:xfrm>
        </p:spPr>
        <p:txBody>
          <a:bodyPr>
            <a:normAutofit/>
          </a:bodyPr>
          <a:lstStyle/>
          <a:p>
            <a:pPr algn="ctr"/>
            <a:r>
              <a:rPr lang="en-US" sz="6600" b="1" dirty="0">
                <a:latin typeface="+mn-lt"/>
              </a:rPr>
              <a:t>THANK YOU</a:t>
            </a:r>
            <a:endParaRPr lang="en-IN" sz="6600" b="1" dirty="0">
              <a:latin typeface="+mn-lt"/>
            </a:endParaRPr>
          </a:p>
        </p:txBody>
      </p:sp>
    </p:spTree>
    <p:extLst>
      <p:ext uri="{BB962C8B-B14F-4D97-AF65-F5344CB8AC3E}">
        <p14:creationId xmlns:p14="http://schemas.microsoft.com/office/powerpoint/2010/main" val="27051476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833</TotalTime>
  <Words>446</Words>
  <Application>Microsoft Office PowerPoint</Application>
  <PresentationFormat>Widescreen</PresentationFormat>
  <Paragraphs>63</Paragraphs>
  <Slides>14</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Calibri</vt:lpstr>
      <vt:lpstr>Wingdings</vt:lpstr>
      <vt:lpstr>Office Theme</vt:lpstr>
      <vt:lpstr>AI IMPACT ON JOBS -2030</vt:lpstr>
      <vt:lpstr>INTRODUCTION</vt:lpstr>
      <vt:lpstr>OBJECTIVES OF THE STUDY</vt:lpstr>
      <vt:lpstr>DATASET</vt:lpstr>
      <vt:lpstr>DASHBOARD</vt:lpstr>
      <vt:lpstr>BAR CHART</vt:lpstr>
      <vt:lpstr>BUBBLE CHART</vt:lpstr>
      <vt:lpstr>TREE MAP</vt:lpstr>
      <vt:lpstr>DONUT CHART</vt:lpstr>
      <vt:lpstr>PIE CHART</vt:lpstr>
      <vt:lpstr>LOLLIPOP CHART</vt:lpstr>
      <vt:lpstr>FINDINGS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nandanacvnandu@gmail.com</dc:creator>
  <cp:lastModifiedBy>nandanacvnandu@gmail.com</cp:lastModifiedBy>
  <cp:revision>38</cp:revision>
  <dcterms:created xsi:type="dcterms:W3CDTF">2026-01-05T08:46:47Z</dcterms:created>
  <dcterms:modified xsi:type="dcterms:W3CDTF">2026-02-21T17:28:06Z</dcterms:modified>
</cp:coreProperties>
</file>